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7"/>
  </p:sldMasterIdLst>
  <p:sldIdLst>
    <p:sldId id="256" r:id="rId8"/>
    <p:sldId id="257" r:id="rId9"/>
    <p:sldId id="258" r:id="rId11"/>
    <p:sldId id="259" r:id="rId12"/>
    <p:sldId id="260" r:id="rId13"/>
    <p:sldId id="261" r:id="rId14"/>
    <p:sldId id="262" r:id="rId15"/>
    <p:sldId id="263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D540F384-C2BA-5857-9161-5526D8B19F1B}">
          <p14:sldIdLst>
            <p14:sldId id="256"/>
          </p14:sldIdLst>
        </p14:section>
        <p14:section name="Продажи" id="{F1B58A13-6EB0-5BC0-BF2B-6675FE4E0A28}">
          <p14:sldIdLst>
            <p14:sldId id="257"/>
            <p14:sldId id="258"/>
            <p14:sldId id="259"/>
            <p14:sldId id="260"/>
            <p14:sldId id="261"/>
          </p14:sldIdLst>
        </p14:section>
        <p14:section name="Служебное" id="{BCF0BE2E-9212-5E5D-B149-792836DB928D}">
          <p14:sldIdLst>
            <p14:sldId id="262"/>
            <p14:sldId id="263"/>
          </p14:sldIdLst>
        </p14:section>
      </p14:sectionLst>
    </p:ext>
  </p:extLst>
</p:presentation>
</file>

<file path=ppt/commentAuthors.xml><?xml version="1.0" encoding="utf-8"?>
<ns0:cmAuthorLst xmlns:ns0="http://schemas.openxmlformats.org/presentationml/2006/main">
  <ns0:cmAuthor id="0" name="Автор шаблона" initials="АШ" lastIdx="1" clrIdx="0"/>
  <ns0:cmAuthor id="1" name="Дизайнер" initials="Д" lastIdx="1" clrIdx="1"/>
</ns0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Master" Target="slideMasters/slideMaster2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3.7</c:v>
                </c:pt>
                <c:pt idx="2">
                  <c:v>5.4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3.7</c:v>
                </c:pt>
                <c:pt idx="1">
                  <c:v>5.4</c:v>
                </c:pt>
                <c:pt idx="2">
                  <c:v>3.1</c:v>
                </c:pt>
              </c:numCache>
            </c:numRef>
          </c:val>
        </c:ser>
        <c:dLbls>
          <c:numFmt formatCode="#,##0.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5.4</c:v>
                </c:pt>
                <c:pt idx="1">
                  <c:v>3.1</c:v>
                </c:pt>
                <c:pt idx="2">
                  <c:v>4.8</c:v>
                </c:pt>
              </c:numCache>
            </c:numRef>
          </c:val>
          <c:smooth val="0"/>
        </c:ser>
        <c:dLbls>
          <c:numFmt formatCode="0%" sourceLinked="0"/>
          <c:spPr>
            <a:noFill/>
          </c:spPr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axId val="50010"/>
        <c:axId val="50011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11"/>
        <c:crosses val="autoZero"/>
        <c:auto val="1"/>
        <c:lblAlgn val="ctr"/>
        <c:lblOffset val="100"/>
        <c:noMultiLvlLbl val="0"/>
      </c:catAx>
      <c:valAx>
        <c:axId val="50011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ru-RU"/>
          </a:p>
        </c:txPr>
        <c:crossAx val="50010"/>
        <c:crosses val="max"/>
        <c:crossBetween val="between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F28C28"/>
              </a:solidFill>
            </c:spPr>
          </c:dPt>
          <c:dPt>
            <c:idx val="2"/>
            <c:spPr>
              <a:solidFill>
                <a:srgbClr val="2E8B57"/>
              </a:solidFill>
            </c:spPr>
          </c:dPt>
          <c:dPt>
            <c:idx val="3"/>
            <c:spPr>
              <a:solidFill>
                <a:srgbClr val="7F7F7F"/>
              </a:solidFill>
            </c:spPr>
          </c:dPt>
          <c:dPt>
            <c:idx val="4"/>
            <c:spPr>
              <a:solidFill>
                <a:srgbClr val="5B9BD5"/>
              </a:solidFill>
            </c:spPr>
          </c:dPt>
          <c:dPt>
            <c:idx val="5"/>
            <c:spPr>
              <a:solidFill>
                <a:srgbClr val="C00000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dLbl>
              <c:idx val="1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dLbl>
              <c:idx val="2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dLbl>
              <c:idx val="3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dLbl>
              <c:idx val="4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dLbl>
              <c:idx val="5"/>
              <c:spPr/>
              <c:txPr>
                <a:bodyPr/>
                <a:lstStyle/>
                <a:p>
                  <a:pPr>
                    <a:defRPr/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showLegendKey val="0"/>
              <c:showVal val="0"/>
              <c:showCatName val="1"/>
              <c:showSerName val="0"/>
              <c:showPercent val="1"/>
              <c:showBubbleSize val="0"/>
              <c:separator>; </c:separator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  <c:pt idx="5">
                  <c:v>Категория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2.0</c:v>
                </c:pt>
                <c:pt idx="1">
                  <c:v>3.7</c:v>
                </c:pt>
                <c:pt idx="2">
                  <c:v>5.4</c:v>
                </c:pt>
                <c:pt idx="3">
                  <c:v>3.1</c:v>
                </c:pt>
                <c:pt idx="4">
                  <c:v>4.8</c:v>
                </c:pt>
                <c:pt idx="5">
                  <c:v>2.5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2.0</c:v>
                </c:pt>
                <c:pt idx="1">
                  <c:v>3.7</c:v>
                </c:pt>
                <c:pt idx="2">
                  <c:v>5.4</c:v>
                </c:pt>
                <c:pt idx="3">
                  <c:v>3.1</c:v>
                </c:pt>
                <c:pt idx="4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  <c:pt idx="4">
                  <c:v>Категория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3.7</c:v>
                </c:pt>
                <c:pt idx="1">
                  <c:v>5.4</c:v>
                </c:pt>
                <c:pt idx="2">
                  <c:v>3.1</c:v>
                </c:pt>
                <c:pt idx="3">
                  <c:v>4.8</c:v>
                </c:pt>
                <c:pt idx="4">
                  <c:v>2.5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</c:v>
                </c:pt>
                <c:pt idx="1">
                  <c:v>5.4</c:v>
                </c:pt>
                <c:pt idx="2">
                  <c:v>3.1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5.4</c:v>
                </c:pt>
                <c:pt idx="1">
                  <c:v>3.1</c:v>
                </c:pt>
                <c:pt idx="2">
                  <c:v>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5.4</c:v>
                </c:pt>
                <c:pt idx="1">
                  <c:v>3.1</c:v>
                </c:pt>
                <c:pt idx="2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Ряд 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3.1</c:v>
                </c:pt>
                <c:pt idx="1">
                  <c:v>4.8</c:v>
                </c:pt>
                <c:pt idx="2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Ряд 3</c:v>
                </c:pt>
              </c:strCache>
            </c:strRef>
          </c:tx>
          <c:spPr>
            <a:ln w="28575" cap="rnd">
              <a:solidFill>
                <a:schemeClr val="accent2"/>
              </a:solidFill>
            </a:ln>
          </c:spPr>
          <c:marker>
            <c:symbol val="circle"/>
            <c:size val="7"/>
          </c:marker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4.8</c:v>
                </c:pt>
                <c:pt idx="1">
                  <c:v>2.5</c:v>
                </c:pt>
                <c:pt idx="2">
                  <c:v>4.2</c:v>
                </c:pt>
              </c:numCache>
            </c:numRef>
          </c:val>
          <c:smooth val="0"/>
        </c:ser>
        <c:dLbls>
          <c:numFmt formatCode="#,##0" sourceLinked="0"/>
          <c:spPr>
            <a:noFill/>
          </c:spPr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axId val="50010"/>
        <c:axId val="50011"/>
      </c:line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  <c:catAx>
        <c:axId val="50010"/>
        <c:scaling>
          <c:orientation val="minMax"/>
        </c:scaling>
        <c:delete val="1"/>
        <c:axPos val="b"/>
        <c:majorTickMark val="none"/>
        <c:minorTickMark val="none"/>
        <c:tickLblPos val="nextTo"/>
        <c:crossAx val="50011"/>
        <c:crosses val="autoZero"/>
        <c:auto val="1"/>
        <c:lblAlgn val="ctr"/>
        <c:lblOffset val="100"/>
        <c:noMultiLvlLbl val="0"/>
      </c:catAx>
      <c:valAx>
        <c:axId val="50011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900">
                <a:solidFill>
                  <a:srgbClr val="FFFFFF"/>
                </a:solidFill>
              </a:defRPr>
            </a:pPr>
            <a:endParaRPr lang="ru-RU"/>
          </a:p>
        </c:txPr>
        <c:crossAx val="50010"/>
        <c:crosses val="max"/>
        <c:crossBetween val="between"/>
      </c:valAx>
      <c:spPr>
        <a:noFill/>
      </c:spPr>
    </c:plotArea>
    <c:dispBlanksAs val="gap"/>
  </c:chart>
  <c:spPr>
    <a:noFill/>
  </c:spPr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Выручка {{Год}}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3.7</c:v>
                </c:pt>
                <c:pt idx="2">
                  <c:v>5.4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Заметка шаблона: проверить выручку перед отправкой.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Логотип"/>
          <p:cNvGrpSpPr/>
          <p:nvPr/>
        </p:nvGrpSpPr>
        <p:grpSpPr>
          <a:xfrm>
            <a:off x="4754880" y="2926080"/>
            <a:ext cx="2560320" cy="457200"/>
            <a:chOff x="4754880" y="2926080"/>
            <a:chExt cx="2560320" cy="457200"/>
          </a:xfrm>
        </p:grpSpPr>
        <p:sp>
          <p:nvSpPr>
            <p:cNvPr id="3" name="Rounded Rectangle 2"/>
            <p:cNvSpPr/>
            <p:nvPr/>
          </p:nvSpPr>
          <p:spPr>
            <a:xfrm>
              <a:off x="4754880" y="2926080"/>
              <a:ext cx="457200" cy="457200"/>
            </a:xfrm>
            <a:prstGeom prst="roundRect">
              <a:avLst/>
            </a:prstGeom>
            <a:solidFill>
              <a:srgbClr val="F28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303520" y="297180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 b="1">
                  <a:solidFill>
                    <a:srgbClr val="1F4E79"/>
                  </a:solidFill>
                </a:rPr>
                <a:t>Синтетика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" name="Полоса шаблона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Подпись шаблона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solidFill>
                  <a:srgbClr val="7F7F7F"/>
                </a:solidFill>
              </a:rPr>
              <a:t>Синтетический шаблон Autogenerator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" name="Полоса шаблона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Подпись шаблона"/>
          <p:cNvSpPr txBox="1"/>
          <p:nvPr/>
        </p:nvSpPr>
        <p:spPr>
          <a:xfrm>
            <a:off x="457200" y="6446520"/>
            <a:ext cx="5486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>
                <a:solidFill>
                  <a:srgbClr val="7F7F7F"/>
                </a:solidFill>
              </a:rPr>
              <a:t>Синтетический шаблон Autogenerator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Relationship Id="rId4" Type="http://schemas.openxmlformats.org/officeDocument/2006/relationships/tags" Target="../tags/ta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Продажи</a:t>
            </a:r>
          </a:p>
        </p:txBody>
      </p:sp>
      <p:sp>
        <p:nvSpPr>
          <p:cNvPr id="3" name="Период"/>
          <p:cNvSpPr txBox="1"/>
          <p:nvPr/>
        </p:nvSpPr>
        <p:spPr>
          <a:xfrm>
            <a:off x="3200400" y="4023360"/>
            <a:ext cx="57607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sz="2800" b="0">
                <a:solidFill>
                  <a:srgbClr val="2B2F47"/>
                </a:solidFill>
                <a:latin typeface="Arial"/>
              </a:rPr>
              <a:t>{{</a:t>
            </a:r>
            <a:r>
              <a:rPr lang="en-US" err="1" sz="2800" b="0">
                <a:solidFill>
                  <a:srgbClr val="2B2F47"/>
                </a:solidFill>
                <a:latin typeface="Arial"/>
              </a:rPr>
              <a:t>Ме</a:t>
            </a:r>
            <a:r>
              <a:rPr lang="ru-RU" sz="2800" b="0">
                <a:solidFill>
                  <a:srgbClr val="2B2F47"/>
                </a:solidFill>
                <a:latin typeface="Arial"/>
              </a:rPr>
              <a:t>сяц</a:t>
            </a:r>
            <a:r>
              <a:rPr lang="en-US" sz="28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2800" b="0">
                <a:solidFill>
                  <a:srgbClr val="2B2F47"/>
                </a:solidFill>
                <a:latin typeface="Arial"/>
              </a:rPr>
              <a:t> </a:t>
            </a:r>
            <a:r>
              <a:rPr lang="en-US" sz="28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0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2800" b="0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grpSp>
        <p:nvGrpSpPr>
          <p:cNvPr id="4" name="Логотип"/>
          <p:cNvGrpSpPr/>
          <p:nvPr/>
        </p:nvGrpSpPr>
        <p:grpSpPr>
          <a:xfrm>
            <a:off x="4754880" y="5669280"/>
            <a:ext cx="2560320" cy="457200"/>
            <a:chOff x="4754880" y="5669280"/>
            <a:chExt cx="2560320" cy="457200"/>
          </a:xfrm>
        </p:grpSpPr>
        <p:sp>
          <p:nvSpPr>
            <p:cNvPr id="5" name="Rounded Rectangle 4"/>
            <p:cNvSpPr/>
            <p:nvPr/>
          </p:nvSpPr>
          <p:spPr>
            <a:xfrm>
              <a:off x="4754880" y="5669280"/>
              <a:ext cx="457200" cy="457200"/>
            </a:xfrm>
            <a:prstGeom prst="roundRect">
              <a:avLst/>
            </a:prstGeom>
            <a:solidFill>
              <a:srgbClr val="F28C2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303520" y="5715000"/>
              <a:ext cx="2011680" cy="3657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800" b="1">
                  <a:solidFill>
                    <a:srgbClr val="1F4E79"/>
                  </a:solidFill>
                </a:rPr>
                <a:t>Синтетика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Итоги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,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{</a:t>
            </a:r>
            <a:r>
              <a:rPr lang="en-US" err="1" sz="2800" b="1">
                <a:solidFill>
                  <a:srgbClr val="2B2F47"/>
                </a:solidFill>
                <a:latin typeface="Arial"/>
              </a:rPr>
              <a:t>Ме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сяц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sp>
        <p:nvSpPr>
          <p:cNvPr id="3" name="Заголовок 2"/>
          <p:cNvSpPr txBox="1"/>
          <p:nvPr>
            <p:custDataLst>
              <p:tags r:id="rId4"/>
            </p:custDataLst>
          </p:nvPr>
        </p:nvSpPr>
        <p:spPr>
          <a:xfrm>
            <a:off x="548640" y="1280160"/>
            <a:ext cx="329184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Выручка</a:t>
            </a:r>
            <a:r>
              <a:rPr lang="en-US" sz="24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 млн ₽</a:t>
            </a:r>
          </a:p>
          <a:p>
            <a:pPr algn="l"/>
            <a:r>
              <a:rPr lang="ru-RU" sz="2400" b="1">
                <a:solidFill>
                  <a:srgbClr val="2B2F47"/>
                </a:solidFill>
                <a:latin typeface="Arial"/>
              </a:rPr>
              <a:t>выручка без НДС</a:t>
            </a:r>
          </a:p>
        </p:txBody>
      </p:sp>
      <p:sp>
        <p:nvSpPr>
          <p:cNvPr id="4" name="Заголовок 2"/>
          <p:cNvSpPr txBox="1"/>
          <p:nvPr/>
        </p:nvSpPr>
        <p:spPr>
          <a:xfrm>
            <a:off x="4206240" y="1280160"/>
            <a:ext cx="329184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Прирост+</a:t>
            </a:r>
            <a:r>
              <a:rPr lang="en-US" sz="24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%</a:t>
            </a:r>
          </a:p>
          <a:p>
            <a:pPr algn="l"/>
            <a:r>
              <a:rPr lang="ru-RU" sz="2400" b="1">
                <a:solidFill>
                  <a:srgbClr val="2B2F47"/>
                </a:solidFill>
                <a:latin typeface="Arial"/>
              </a:rPr>
              <a:t>к прошлому месяцу</a:t>
            </a:r>
          </a:p>
        </p:txBody>
      </p:sp>
      <p:sp>
        <p:nvSpPr>
          <p:cNvPr id="5" name="План"/>
          <p:cNvSpPr txBox="1"/>
          <p:nvPr/>
        </p:nvSpPr>
        <p:spPr>
          <a:xfrm>
            <a:off x="7863840" y="1280160"/>
            <a:ext cx="3657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Доля</a:t>
            </a:r>
            <a:r>
              <a:rPr lang="en-US" sz="24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% плана выполнено</a:t>
            </a:r>
          </a:p>
        </p:txBody>
      </p:sp>
      <p:graphicFrame>
        <p:nvGraphicFramePr>
          <p:cNvPr id="6" name="Диаграмма 3"/>
          <p:cNvGraphicFramePr>
            <a:graphicFrameLocks noGrp="1"/>
          </p:cNvGraphicFramePr>
          <p:nvPr/>
        </p:nvGraphicFramePr>
        <p:xfrm>
          <a:off x="548640" y="2468880"/>
          <a:ext cx="11064240" cy="3840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Регионы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,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Месяц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sp>
        <p:nvSpPr>
          <p:cNvPr id="3" name="Доля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4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Доля</a:t>
            </a:r>
            <a:r>
              <a:rPr lang="en-US" sz="24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400" b="1">
                <a:solidFill>
                  <a:srgbClr val="2B2F47"/>
                </a:solidFill>
                <a:latin typeface="Arial"/>
              </a:rPr>
              <a:t>%</a:t>
            </a:r>
          </a:p>
          <a:p>
            <a:pPr algn="l"/>
            <a:r>
              <a:rPr lang="ru-RU" sz="2400" b="1">
                <a:solidFill>
                  <a:srgbClr val="2B2F47"/>
                </a:solidFill>
                <a:latin typeface="Arial"/>
              </a:rPr>
              <a:t>выручки — у первого региона</a:t>
            </a:r>
          </a:p>
        </p:txBody>
      </p:sp>
      <p:graphicFrame>
        <p:nvGraphicFramePr>
          <p:cNvPr id="4" name="Диаграмма 5"/>
          <p:cNvGraphicFramePr>
            <a:graphicFrameLocks noGrp="1"/>
          </p:cNvGraphicFramePr>
          <p:nvPr/>
        </p:nvGraphicFramePr>
        <p:xfrm>
          <a:off x="4572000" y="1188720"/>
          <a:ext cx="6949440" cy="5120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План по регионам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,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Месяц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graphicFrame>
        <p:nvGraphicFramePr>
          <p:cNvPr id="3" name="Диаграмма 7"/>
          <p:cNvGraphicFramePr>
            <a:graphicFrameLocks noGrp="1"/>
          </p:cNvGraphicFramePr>
          <p:nvPr/>
        </p:nvGraphicFramePr>
        <p:xfrm>
          <a:off x="548640" y="1188720"/>
          <a:ext cx="877824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Надпись 1"/>
          <p:cNvSpPr txBox="1"/>
          <p:nvPr/>
        </p:nvSpPr>
        <p:spPr>
          <a:xfrm>
            <a:off x="9509760" y="1508760"/>
            <a:ext cx="21945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р1=</a:t>
            </a:r>
            <a:r>
              <a:rPr lang="en-US" sz="16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 п.п.</a:t>
            </a:r>
          </a:p>
        </p:txBody>
      </p:sp>
      <p:sp>
        <p:nvSpPr>
          <p:cNvPr id="5" name="Надпись 2"/>
          <p:cNvSpPr txBox="1"/>
          <p:nvPr/>
        </p:nvSpPr>
        <p:spPr>
          <a:xfrm>
            <a:off x="9509760" y="2359152"/>
            <a:ext cx="21945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р2=</a:t>
            </a:r>
            <a:r>
              <a:rPr lang="en-US" sz="16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 п.п.</a:t>
            </a:r>
          </a:p>
        </p:txBody>
      </p:sp>
      <p:sp>
        <p:nvSpPr>
          <p:cNvPr id="6" name="Надпись 3"/>
          <p:cNvSpPr txBox="1"/>
          <p:nvPr/>
        </p:nvSpPr>
        <p:spPr>
          <a:xfrm>
            <a:off x="9509760" y="3209544"/>
            <a:ext cx="21945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р3=</a:t>
            </a:r>
            <a:r>
              <a:rPr lang="en-US" sz="16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 п.п.</a:t>
            </a:r>
          </a:p>
        </p:txBody>
      </p:sp>
      <p:sp>
        <p:nvSpPr>
          <p:cNvPr id="7" name="Надпись 4"/>
          <p:cNvSpPr txBox="1"/>
          <p:nvPr/>
        </p:nvSpPr>
        <p:spPr>
          <a:xfrm>
            <a:off x="9509760" y="4059935"/>
            <a:ext cx="21945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р4=</a:t>
            </a:r>
            <a:r>
              <a:rPr lang="en-US" sz="16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 п.п.</a:t>
            </a:r>
          </a:p>
        </p:txBody>
      </p:sp>
      <p:sp>
        <p:nvSpPr>
          <p:cNvPr id="8" name="Надпись 5"/>
          <p:cNvSpPr txBox="1"/>
          <p:nvPr/>
        </p:nvSpPr>
        <p:spPr>
          <a:xfrm>
            <a:off x="9509760" y="4910328"/>
            <a:ext cx="219456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6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р5=</a:t>
            </a:r>
            <a:r>
              <a:rPr lang="en-US" sz="16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600" b="0">
                <a:solidFill>
                  <a:srgbClr val="2B2F47"/>
                </a:solidFill>
                <a:latin typeface="Arial"/>
              </a:rPr>
              <a:t> п.п.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Заказы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,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Месяц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 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800" b="1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2800" b="1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sp>
        <p:nvSpPr>
          <p:cNvPr id="3" name="Заказы"/>
          <p:cNvSpPr txBox="1"/>
          <p:nvPr/>
        </p:nvSpPr>
        <p:spPr>
          <a:xfrm>
            <a:off x="548640" y="1188720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0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000" b="1">
                <a:solidFill>
                  <a:srgbClr val="2B2F47"/>
                </a:solidFill>
                <a:latin typeface="Arial"/>
              </a:rPr>
              <a:t>+заказы</a:t>
            </a:r>
            <a:r>
              <a:rPr lang="en-US" sz="20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000" b="1">
                <a:solidFill>
                  <a:srgbClr val="2B2F47"/>
                </a:solidFill>
                <a:latin typeface="Arial"/>
              </a:rPr>
              <a:t> заказов</a:t>
            </a:r>
          </a:p>
        </p:txBody>
      </p:sp>
      <p:sp>
        <p:nvSpPr>
          <p:cNvPr id="4" name="Возвраты"/>
          <p:cNvSpPr txBox="1"/>
          <p:nvPr/>
        </p:nvSpPr>
        <p:spPr>
          <a:xfrm>
            <a:off x="6035040" y="1188720"/>
            <a:ext cx="45720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2000" b="1">
                <a:solidFill>
                  <a:srgbClr val="2B2F47"/>
                </a:solidFill>
                <a:latin typeface="Arial"/>
              </a:rPr>
              <a:t>{{</a:t>
            </a:r>
            <a:r>
              <a:rPr lang="ru-RU" sz="2000" b="1">
                <a:solidFill>
                  <a:srgbClr val="2B2F47"/>
                </a:solidFill>
                <a:latin typeface="Arial"/>
              </a:rPr>
              <a:t>возвраты-</a:t>
            </a:r>
            <a:r>
              <a:rPr lang="en-US" sz="2000" b="1">
                <a:solidFill>
                  <a:srgbClr val="2B2F47"/>
                </a:solidFill>
                <a:latin typeface="Arial"/>
              </a:rPr>
              <a:t>}}</a:t>
            </a:r>
            <a:r>
              <a:rPr lang="ru-RU" sz="2000" b="1">
                <a:solidFill>
                  <a:srgbClr val="2B2F47"/>
                </a:solidFill>
                <a:latin typeface="Arial"/>
              </a:rPr>
              <a:t> возвратов</a:t>
            </a:r>
          </a:p>
        </p:txBody>
      </p:sp>
      <p:graphicFrame>
        <p:nvGraphicFramePr>
          <p:cNvPr id="5" name="Диаграмма 9"/>
          <p:cNvGraphicFramePr>
            <a:graphicFrameLocks noGrp="1"/>
          </p:cNvGraphicFramePr>
          <p:nvPr/>
        </p:nvGraphicFramePr>
        <p:xfrm>
          <a:off x="548640" y="1828800"/>
          <a:ext cx="1106424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Диаграмма 10"/>
          <p:cNvGraphicFramePr>
            <a:graphicFrameLocks noGrp="1"/>
          </p:cNvGraphicFramePr>
          <p:nvPr/>
        </p:nvGraphicFramePr>
        <p:xfrm>
          <a:off x="548640" y="1828800"/>
          <a:ext cx="11064240" cy="44805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11247120" cy="731520"/>
          </a:xfrm>
        </p:spPr>
        <p:txBody>
          <a:bodyPr/>
          <a:lstStyle/>
          <a:p>
            <a:r>
              <a:t>Выручка регионов по месяцам</a:t>
            </a:r>
          </a:p>
        </p:txBody>
      </p:sp>
      <p:graphicFrame>
        <p:nvGraphicFramePr>
          <p:cNvPr id="3" name="Таблица 4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560320"/>
                <a:gridCol w="2560320"/>
                <a:gridCol w="2560320"/>
              </a:tblGrid>
              <a:tr h="438912">
                <a:tc>
                  <a:txBody>
                    <a:bodyPr/>
                    <a:lstStyle/>
                    <a:p>
                      <a:r>
                        <a:t>Регион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Месяц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Месяц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Месяц 3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4" name="Сноска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ru-RU" sz="1200" b="0">
                <a:solidFill>
                  <a:srgbClr val="2B2F47"/>
                </a:solidFill>
                <a:latin typeface="Arial"/>
              </a:rPr>
              <a:t>Источник: CRM, выручка без НДС, млн ₽</a:t>
            </a:r>
          </a:p>
        </p:txBody>
      </p:sp>
      <p:graphicFrame>
        <p:nvGraphicFramePr>
          <p:cNvPr id="5" name="think-cell data - do not delete"/>
          <p:cNvGraphicFramePr>
            <a:graphicFrameLocks noGrp="1"/>
          </p:cNvGraphicFramePr>
          <p:nvPr/>
        </p:nvGraphicFramePr>
        <p:xfrm>
          <a:off x="91440" y="91440"/>
          <a:ext cx="91440" cy="91440"/>
        </p:xfrm>
        <a:graphic>
          <a:graphicData uri="http://schemas.openxmlformats.org/presentationml/2006/ole">
            <p:oleObj showAsIcon="1" r:id="rId2" imgW="965200" imgH="609600" progId="TCLayout.ActiveDocument.1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" y="91440"/>
                    <a:ext cx="91440" cy="9144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Черновик</a:t>
            </a:r>
          </a:p>
        </p:txBody>
      </p:sp>
      <p:sp>
        <p:nvSpPr>
          <p:cNvPr id="3" name="Заголовок 1"/>
          <p:cNvSpPr txBox="1"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2800" b="1">
                <a:solidFill>
                  <a:srgbClr val="2B2F47"/>
                </a:solidFill>
                <a:latin typeface="Arial"/>
              </a:rPr>
              <a:t>Повтор имени</a:t>
            </a:r>
          </a:p>
        </p:txBody>
      </p:sp>
      <p:sp>
        <p:nvSpPr>
          <p:cNvPr id="4" name="Вписанный год"/>
          <p:cNvSpPr txBox="1"/>
          <p:nvPr/>
        </p:nvSpPr>
        <p:spPr>
          <a:xfrm>
            <a:off x="548640" y="1280160"/>
            <a:ext cx="7315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ru-RU" sz="1800" b="0">
                <a:solidFill>
                  <a:srgbClr val="2B2F47"/>
                </a:solidFill>
                <a:latin typeface="Arial"/>
              </a:rPr>
              <a:t>Рост к </a:t>
            </a:r>
            <a:r>
              <a:rPr lang="en-US" sz="18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800" b="0">
                <a:solidFill>
                  <a:srgbClr val="2B2F47"/>
                </a:solidFill>
                <a:latin typeface="Arial"/>
              </a:rPr>
              <a:t>Месяц</a:t>
            </a:r>
            <a:r>
              <a:rPr lang="en-US" sz="1800" b="0">
                <a:solidFill>
                  <a:srgbClr val="2B2F47"/>
                </a:solidFill>
                <a:latin typeface="Arial"/>
              </a:rPr>
              <a:t>}}</a:t>
            </a:r>
            <a:r>
              <a:rPr lang="ru-RU" sz="1800" b="0">
                <a:solidFill>
                  <a:srgbClr val="2B2F47"/>
                </a:solidFill>
                <a:latin typeface="Arial"/>
              </a:rPr>
              <a:t> 2025</a:t>
            </a:r>
          </a:p>
        </p:txBody>
      </p:sp>
      <p:sp>
        <p:nvSpPr>
          <p:cNvPr id="5" name="Ссылка на слайд"/>
          <p:cNvSpPr txBox="1"/>
          <p:nvPr/>
        </p:nvSpPr>
        <p:spPr>
          <a:xfrm>
            <a:off x="548640" y="1920240"/>
            <a:ext cx="73152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ru-RU" sz="1800" b="0">
                <a:solidFill>
                  <a:srgbClr val="2B2F47"/>
                </a:solidFill>
                <a:latin typeface="Arial"/>
              </a:rPr>
              <a:t>Подробнее — на слайде 2</a:t>
            </a:r>
          </a:p>
        </p:txBody>
      </p:sp>
      <p:sp>
        <p:nvSpPr>
          <p:cNvPr id="6" name="Метка с переносом"/>
          <p:cNvSpPr txBox="1"/>
          <p:nvPr/>
        </p:nvSpPr>
        <p:spPr>
          <a:xfrm>
            <a:off x="548640" y="2560320"/>
            <a:ext cx="73152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ru-RU" sz="1800" b="0">
                <a:solidFill>
                  <a:srgbClr val="2B2F47"/>
                </a:solidFill>
                <a:latin typeface="Arial"/>
              </a:rPr>
              <a:t>{{Ме</a:t>
            </a:r>
            <a:br/>
            <a:r>
              <a:rPr lang="ru-RU" sz="1800">
                <a:solidFill>
                  <a:srgbClr val="2B2F47"/>
                </a:solidFill>
                <a:latin typeface="Arial"/>
              </a:rPr>
              <a:t>сяц}}</a:t>
            </a:r>
          </a:p>
        </p:txBody>
      </p:sp>
      <p:sp>
        <p:nvSpPr>
          <p:cNvPr id="7" name="За краем"/>
          <p:cNvSpPr txBox="1"/>
          <p:nvPr/>
        </p:nvSpPr>
        <p:spPr>
          <a:xfrm>
            <a:off x="11155680" y="3657600"/>
            <a:ext cx="1828800" cy="5486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lang="en-US" sz="1800" b="0">
                <a:solidFill>
                  <a:srgbClr val="2B2F47"/>
                </a:solidFill>
                <a:latin typeface="Arial"/>
              </a:rPr>
              <a:t>{{</a:t>
            </a:r>
            <a:r>
              <a:rPr lang="ru-RU" sz="1800" b="0">
                <a:solidFill>
                  <a:srgbClr val="2B2F47"/>
                </a:solidFill>
                <a:latin typeface="Arial"/>
              </a:rPr>
              <a:t>Год</a:t>
            </a:r>
            <a:r>
              <a:rPr lang="en-US" sz="1800" b="0">
                <a:solidFill>
                  <a:srgbClr val="2B2F47"/>
                </a:solidFill>
                <a:latin typeface="Arial"/>
              </a:rPr>
              <a:t>}}</a:t>
            </a:r>
          </a:p>
        </p:txBody>
      </p:sp>
      <p:graphicFrame>
        <p:nvGraphicFramePr>
          <p:cNvPr id="8" name="Диаграмма 12"/>
          <p:cNvGraphicFramePr>
            <a:graphicFrameLocks noGrp="1"/>
          </p:cNvGraphicFramePr>
          <p:nvPr/>
        </p:nvGraphicFramePr>
        <p:xfrm>
          <a:off x="548640" y="3657600"/>
          <a:ext cx="54864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Спасибо"/>
          <p:cNvSpPr txBox="1"/>
          <p:nvPr/>
        </p:nvSpPr>
        <p:spPr>
          <a:xfrm>
            <a:off x="3200400" y="3931920"/>
            <a:ext cx="57607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ru-RU" sz="3200" b="1">
                <a:solidFill>
                  <a:srgbClr val="2B2F47"/>
                </a:solidFill>
                <a:latin typeface="Arial"/>
              </a:rPr>
              <a:t>Спасибо!</a:t>
            </a:r>
          </a:p>
        </p:txBody>
      </p:sp>
    </p:spTree>
  </p:cSld>
  <p:clrMapOvr>
    <a:masterClrMapping/>
  </p:clrMapOvr>
</p:sld>
</file>

<file path=ppt/tags/tag1.xml><?xml version="1.0" encoding="utf-8"?>
<ns0:tagLst xmlns:ns0="http://schemas.openxmlformats.org/presentationml/2006/main">
  <ns0:tag name="TCLAYOUT" val="Синтетика"/>
</ns0:tagLst>
</file>

<file path=ppt/theme/theme1.xml><?xml version="1.0" encoding="utf-8"?>
<a:theme xmlns:a="http://schemas.openxmlformats.org/drawingml/2006/main" name="Office Theme">
  <a:themeElements>
    <a:clrScheme name="Autogenera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79"/>
      </a:accent1>
      <a:accent2>
        <a:srgbClr val="F28C28"/>
      </a:accent2>
      <a:accent3>
        <a:srgbClr val="2E8B57"/>
      </a:accent3>
      <a:accent4>
        <a:srgbClr val="7F7F7F"/>
      </a:accent4>
      <a:accent5>
        <a:srgbClr val="5B9BD5"/>
      </a:accent5>
      <a:accent6>
        <a:srgbClr val="C0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Autogenerat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F4E79"/>
      </a:accent1>
      <a:accent2>
        <a:srgbClr val="F28C28"/>
      </a:accent2>
      <a:accent3>
        <a:srgbClr val="2E8B57"/>
      </a:accent3>
      <a:accent4>
        <a:srgbClr val="7F7F7F"/>
      </a:accent4>
      <a:accent5>
        <a:srgbClr val="5B9BD5"/>
      </a:accent5>
      <a:accent6>
        <a:srgbClr val="C0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Синтетический шаблон Autogenerator</dc:title>
  <dc:subject/>
  <dc:creator>Autogenerator</dc:creator>
  <cp:keywords/>
  <dc:description>generated using python-pptx</dc:description>
  <cp:lastModifiedBy>Autogenerator</cp:lastModifiedBy>
  <cp:revision>1</cp:revision>
  <dcterms:created xsi:type="dcterms:W3CDTF">2026-09-30T00:00:00Z</dcterms:created>
  <dcterms:modified xsi:type="dcterms:W3CDTF">2026-09-30T00:00:00Z</dcterms:modified>
  <cp:category/>
</cp:coreProperties>
</file>